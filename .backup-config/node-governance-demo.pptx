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6B"/>
                </a:solidFill>
              </a:defRPr>
            </a:pPr>
            <a:r>
              <a:t>Node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ECDC4"/>
                </a:solidFill>
              </a:defRPr>
            </a:pPr>
            <a:r>
              <a:t>Control Which Nodes Can Be Used in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Settings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Settings → Node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Enable/Disable feature globally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Priority notice explaining policy precedence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Three tabs: Policies, Categories, Requests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Priority: Project ALLOW &gt; Global BLOCK &gt; Global ALLOW &gt; Project BLOCK</a:t>
            </a:r>
          </a:p>
        </p:txBody>
      </p:sp>
      <p:pic>
        <p:nvPicPr>
          <p:cNvPr id="6" name="Picture 5" descr="demo-01-node-governanc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Categories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Group related nodes for bulk policy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AWS - 25 nodes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Azure/Microsoft - 27 nodes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Blocked External - 430 nodes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Google - 55 nodes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Block entire category instead of individual nodes</a:t>
            </a:r>
          </a:p>
        </p:txBody>
      </p:sp>
      <p:pic>
        <p:nvPicPr>
          <p:cNvPr id="6" name="Picture 5" descr="demo-03-categorie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Manage Category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Add or remove nodes from a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Search to find nodes to add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View all assigned nodes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Click X to remove a node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Node type names shown for clarity</a:t>
            </a:r>
          </a:p>
        </p:txBody>
      </p:sp>
      <p:pic>
        <p:nvPicPr>
          <p:cNvPr id="6" name="Picture 5" descr="demo-04-manage-nodes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Policies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Define what's allowed and what's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Status: Blocked (red) or Allowed (green)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Target: Single Node or Category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Scope: Global or Project-specific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Edit or delete existing policies</a:t>
            </a:r>
          </a:p>
        </p:txBody>
      </p:sp>
      <p:pic>
        <p:nvPicPr>
          <p:cNvPr id="6" name="Picture 5" descr="demo-01-node-governanc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Create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Granular control over node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Policy Type: Block or Allow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Scope: Global or Specific Projects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Target Type: Single Node or Category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Target Value: e.g., n8n-nodes-base.ssh</a:t>
            </a:r>
          </a:p>
        </p:txBody>
      </p:sp>
      <p:pic>
        <p:nvPicPr>
          <p:cNvPr id="6" name="Picture 5" descr="demo-06-create-policy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Node Creator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Real-time governance status when adding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Blocked nodes show 'Blocked' badge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'Request access' link appears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Users can still see blocked nodes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Prevents accidental use of restricted nodes</a:t>
            </a:r>
          </a:p>
        </p:txBody>
      </p:sp>
      <p:pic>
        <p:nvPicPr>
          <p:cNvPr id="6" name="Picture 5" descr="demo-09-gmail-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Request Node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Users provide business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Project - Which project needs access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Workflow Name - Optional context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Justification - Required business reason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Creates audit trail for compliance</a:t>
            </a:r>
          </a:p>
        </p:txBody>
      </p:sp>
      <p:pic>
        <p:nvPicPr>
          <p:cNvPr id="6" name="Picture 5" descr="demo-10-request-access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DC4"/>
                </a:solidFill>
              </a:defRPr>
            </a:pPr>
            <a:r>
              <a:t>Admin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5A6"/>
                </a:solidFill>
              </a:defRPr>
            </a:pPr>
            <a:r>
              <a:t>Approve or reject access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Pending requests appear with badge count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View user info and justification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Approve or Reject with comment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→ Full audit trail maintained</a:t>
            </a:r>
          </a:p>
        </p:txBody>
      </p:sp>
      <p:pic>
        <p:nvPicPr>
          <p:cNvPr id="6" name="Picture 5" descr="demo-11-request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572000" cy="2658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6B"/>
                </a:solidFill>
              </a:defRPr>
            </a:pPr>
            <a:r>
              <a:t>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1645920"/>
          </a:xfrm>
          <a:prstGeom prst="roundRect">
            <a:avLst/>
          </a:prstGeom>
          <a:solidFill>
            <a:srgbClr val="28283C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Block risky nodes like SSH, Execute Command, Code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651760" cy="1645920"/>
          </a:xfrm>
          <a:prstGeom prst="roundRect">
            <a:avLst/>
          </a:prstGeom>
          <a:solidFill>
            <a:srgbClr val="28283C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</a:defRPr>
            </a:pPr>
            <a: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Audit trail for all access requests and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651760" cy="1645920"/>
          </a:xfrm>
          <a:prstGeom prst="roundRect">
            <a:avLst/>
          </a:prstGeom>
          <a:solidFill>
            <a:srgbClr val="28283C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</a:defRPr>
            </a:pPr>
            <a:r>
              <a:t>Flexibility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Global or project-specific policies with priority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2651760" cy="1645920"/>
          </a:xfrm>
          <a:prstGeom prst="roundRect">
            <a:avLst/>
          </a:prstGeom>
          <a:solidFill>
            <a:srgbClr val="28283C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</a:defRPr>
            </a:pPr>
            <a: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59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Users see blocked status in real-time when adding nodes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474720"/>
            <a:ext cx="2651760" cy="1645920"/>
          </a:xfrm>
          <a:prstGeom prst="roundRect">
            <a:avLst/>
          </a:prstGeom>
          <a:solidFill>
            <a:srgbClr val="28283C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65760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</a:defRPr>
            </a:pPr>
            <a: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59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Manage hundreds of nodes with bulk category policies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474720"/>
            <a:ext cx="2651760" cy="1645920"/>
          </a:xfrm>
          <a:prstGeom prst="roundRect">
            <a:avLst/>
          </a:prstGeom>
          <a:solidFill>
            <a:srgbClr val="28283C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65760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</a:defRPr>
            </a:pPr>
            <a:r>
              <a:t>Self-Service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23359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Users can request access with business justification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5A5A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